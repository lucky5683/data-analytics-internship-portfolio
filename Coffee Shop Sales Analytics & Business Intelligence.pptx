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5" r:id="rId2"/>
    <p:sldId id="266" r:id="rId3"/>
    <p:sldId id="267" r:id="rId4"/>
    <p:sldId id="269" r:id="rId5"/>
    <p:sldId id="270" r:id="rId6"/>
    <p:sldId id="271" r:id="rId7"/>
    <p:sldId id="272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378" y="11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8E446-407B-42C8-8419-2219CE28262C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4DBD4B-1983-4F11-96A1-52F0EA9242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2555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657A-A735-0F38-0FA6-969485CAA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DE258D-D8F8-7A3F-5B8D-EEBE9DA92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91343-6052-37A6-FAC6-1C8DB98731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E03AB-F857-E67C-82ED-A40ACED23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1E713-0464-1088-6C29-7F2B4635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352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AC999-C132-92D3-AB2C-7698C6B6F5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53C65-A0E9-24B9-F665-F8719A8D2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FDA35-DFE4-8A4C-A56C-8CA8DAE42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29DCA-F700-CA7E-1655-DFD0E868B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A579A-58D3-86AE-37D4-2EAE3709A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7590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7021-5874-EAD5-5D09-BD5F9AE91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2B13B-6A18-CE57-2DA8-49AA46237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7612DC-B106-DE9B-B427-2DE552150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734128-B236-5A6E-6815-1A9BEB73D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6D50A-B86C-6393-FCEE-A8A4A08AE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579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83011-9071-3A62-232F-752D9949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6035B-F775-5DC5-752B-EE3C478B66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4BC024-2C43-2227-D267-30C5AB032D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A7752F-D246-FF3C-3AF1-671FE5A99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944FF-3AB6-361E-5A7D-9E82740F5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3A7D63-C060-D52C-CAEC-D75591A2A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1534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81F9F-1BFC-2C64-94F2-7FB7F8B2E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DE1954-BE3F-C069-8895-68F66E1D49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05EBA4-DCCE-E5C9-D8F5-D4AF4F7BE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BF6182-60D0-EC98-2864-EF10266F75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9FFC8-D3F2-AE56-DA18-28406D232F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B81801-1D3D-223E-124A-BB9A9DEEB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F9612-372F-6328-3B19-8A1C59E1E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8807DC-4FE3-1A3F-83AA-920CD7093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684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1C0DA-10B9-FE4A-9B76-7FDDEF75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2EF15A-BC75-3C22-6103-50358E287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3DE4C8-332C-99A3-A979-3C0DF2AC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2DA04-F5C6-B455-1086-21F10255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640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D2115-AC9B-57E5-F353-5E20A6043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F7E009-735D-9BFC-9CA9-89D8F12F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C3254-B42A-8EA6-5CAF-603B26D93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652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4E078-2973-D05D-0C15-A28BC148D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DCF28-B316-0906-B9D2-7BDDAF8C1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68F542-E500-F0A2-43D3-D66274821D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9926F3-F725-84FA-2A37-14D2405B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16B2C-5794-F85F-2AB8-382744B07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4084F-35CC-E590-4C02-892F18719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459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482AD-A3E6-DE25-5659-FD7C71BFB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FA70A8-9E01-7A27-72D6-9F4CC0576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ED083-48E4-91B1-252A-335BB5FF6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2604B-A9A5-9BDE-CF22-AE758C582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EE87E-AFCA-F9C6-8146-A37B72DD9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0AD61-8718-FF70-39A2-604533F4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98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5F19B-9E78-808C-4B69-62022B401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BE02EB-86DA-B08B-A156-7845EED902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3A4AC-73BD-0E50-C0CE-5981A7EF2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7CA3-AEC8-B0F8-E261-9B4B125E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F4CC5-5825-F664-3C94-CF4E8F77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655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6CB20B-E2F3-EF5F-04C6-AE50F5ECFC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EEE280-4CD0-E920-FA1D-85CB66D50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16BC38-CFD3-F187-4EE9-C1C4BD35B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E0131A-CF20-C26A-BCA0-CA9E56BA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6CA330-2734-43A8-8771-A0647494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3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57A532-94D8-B08E-FD56-DB2AC805F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EFB87-3261-3FE7-5AAB-1D4E60161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B8D98-267C-82F1-A7F3-FBE96DF0AB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85CEA-54BB-40CE-B29D-ABF776335CF2}" type="datetimeFigureOut">
              <a:rPr lang="en-IN" smtClean="0"/>
              <a:t>14-05-2026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5BDB5-C643-C81D-D9B9-38960CAB39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14C029-B279-A1E3-B92F-C51EB5607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9CA89-3B67-44FF-8503-2353364836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525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41EB7-9A12-4E4B-256A-BEA199EE9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46FDB-62B4-2C50-F015-FF523820E3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8" y="1240282"/>
            <a:ext cx="9144000" cy="2387600"/>
          </a:xfrm>
        </p:spPr>
        <p:txBody>
          <a:bodyPr/>
          <a:lstStyle/>
          <a:p>
            <a:r>
              <a:rPr lang="en-GB" b="1" dirty="0">
                <a:solidFill>
                  <a:schemeClr val="tx2"/>
                </a:solidFill>
              </a:rPr>
              <a:t>Coffee Shop Sales Analytics &amp; Business Intelligence</a:t>
            </a:r>
            <a:endParaRPr lang="en-IN" b="1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1897B0-04C8-7CC2-4811-417C11B5C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8" y="3841234"/>
            <a:ext cx="9144000" cy="369332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Data Storytelling &amp; Statistical Validation Project</a:t>
            </a:r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CA71FE-A990-5E76-E951-6AB0D78C23BF}"/>
              </a:ext>
            </a:extLst>
          </p:cNvPr>
          <p:cNvSpPr txBox="1"/>
          <p:nvPr/>
        </p:nvSpPr>
        <p:spPr>
          <a:xfrm>
            <a:off x="4259176" y="4608584"/>
            <a:ext cx="3673643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/>
              <a:t>Presented by</a:t>
            </a:r>
          </a:p>
          <a:p>
            <a:pPr algn="ctr"/>
            <a:r>
              <a:rPr lang="en-IN" sz="2000" b="1" dirty="0"/>
              <a:t>Dinesh Kumar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A90C9-8E82-4C09-55AF-5C5CC0461709}"/>
              </a:ext>
            </a:extLst>
          </p:cNvPr>
          <p:cNvSpPr txBox="1"/>
          <p:nvPr/>
        </p:nvSpPr>
        <p:spPr>
          <a:xfrm>
            <a:off x="9801725" y="5248386"/>
            <a:ext cx="20373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14 May 2026</a:t>
            </a:r>
          </a:p>
        </p:txBody>
      </p:sp>
    </p:spTree>
    <p:extLst>
      <p:ext uri="{BB962C8B-B14F-4D97-AF65-F5344CB8AC3E}">
        <p14:creationId xmlns:p14="http://schemas.microsoft.com/office/powerpoint/2010/main" val="236172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5B441-3E71-8E66-7BB8-CD2A784E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87" y="-257130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Business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4FB7C-FD01-8219-E53E-C45EA78D1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787" y="2130059"/>
            <a:ext cx="9879933" cy="4098531"/>
          </a:xfrm>
        </p:spPr>
        <p:txBody>
          <a:bodyPr>
            <a:noAutofit/>
          </a:bodyPr>
          <a:lstStyle/>
          <a:p>
            <a:pPr marL="0" indent="0" algn="just">
              <a:lnSpc>
                <a:spcPct val="100000"/>
              </a:lnSpc>
              <a:buNone/>
            </a:pPr>
            <a:r>
              <a:rPr lang="en-GB" sz="1600" dirty="0"/>
              <a:t>• Perform exploratory data analysis (EDA)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GB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600" dirty="0"/>
              <a:t>• Identify sales and revenue trends</a:t>
            </a:r>
          </a:p>
          <a:p>
            <a:pPr algn="just">
              <a:lnSpc>
                <a:spcPct val="100000"/>
              </a:lnSpc>
            </a:pPr>
            <a:endParaRPr lang="en-GB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600" dirty="0"/>
              <a:t>• </a:t>
            </a:r>
            <a:r>
              <a:rPr lang="en-GB" sz="1600" dirty="0" err="1"/>
              <a:t>Analyze</a:t>
            </a:r>
            <a:r>
              <a:rPr lang="en-GB" sz="1600" dirty="0"/>
              <a:t> customer purchasing behaviour</a:t>
            </a:r>
          </a:p>
          <a:p>
            <a:pPr algn="just">
              <a:lnSpc>
                <a:spcPct val="100000"/>
              </a:lnSpc>
            </a:pPr>
            <a:endParaRPr lang="en-GB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600" dirty="0"/>
              <a:t>• Define and track business KPIs</a:t>
            </a:r>
          </a:p>
          <a:p>
            <a:pPr algn="just">
              <a:lnSpc>
                <a:spcPct val="100000"/>
              </a:lnSpc>
            </a:pPr>
            <a:endParaRPr lang="en-GB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600" dirty="0"/>
              <a:t>• Build an interactive business dashboard</a:t>
            </a:r>
          </a:p>
          <a:p>
            <a:pPr algn="just">
              <a:lnSpc>
                <a:spcPct val="100000"/>
              </a:lnSpc>
            </a:pPr>
            <a:endParaRPr lang="en-GB" sz="1600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en-GB" sz="1600" dirty="0"/>
              <a:t>• Generate actionable business insights</a:t>
            </a:r>
            <a:endParaRPr lang="en-IN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9E505-B036-AE4C-F8BB-9DB2A9BBE8EF}"/>
              </a:ext>
            </a:extLst>
          </p:cNvPr>
          <p:cNvSpPr txBox="1"/>
          <p:nvPr/>
        </p:nvSpPr>
        <p:spPr>
          <a:xfrm>
            <a:off x="300787" y="583583"/>
            <a:ext cx="102188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The objective of this project was to analyse coffee shop transaction data to identify customer behaviour patterns, sales trends, operational insights, and key business metrics that support data-driven decision-making.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D78D7E-0B49-15B4-3AF9-B0630DCD47AC}"/>
              </a:ext>
            </a:extLst>
          </p:cNvPr>
          <p:cNvSpPr txBox="1"/>
          <p:nvPr/>
        </p:nvSpPr>
        <p:spPr>
          <a:xfrm>
            <a:off x="300787" y="1599246"/>
            <a:ext cx="503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  <a:latin typeface="+mj-lt"/>
              </a:rPr>
              <a:t>Key goals of the project:</a:t>
            </a:r>
            <a:endParaRPr lang="en-IN" sz="2400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000884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ECB60-7853-652C-35B6-AC641BEB3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CAA0F-DEF5-CF87-0A84-BC9377FAF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667" y="97813"/>
            <a:ext cx="4541921" cy="611124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chemeClr val="tx2"/>
                </a:solidFill>
              </a:rPr>
              <a:t>Dataset Overview</a:t>
            </a:r>
            <a:endParaRPr lang="en-IN" sz="440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2115A581-A032-1C05-99FB-18CBE52AFD0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578" r="14342"/>
          <a:stretch>
            <a:fillRect/>
          </a:stretch>
        </p:blipFill>
        <p:spPr>
          <a:xfrm>
            <a:off x="3675601" y="1962150"/>
            <a:ext cx="7487699" cy="403022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80E79-CBB6-7581-BD5D-978768BDED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03667" y="2180786"/>
            <a:ext cx="3932237" cy="3811588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• Coffee shop transaction dataset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Included purchase date and time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Contained coffee product names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Included payment methods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Included transaction amount data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Used for sales and trend analysis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E02248-58B1-1520-085D-9DD3A9240504}"/>
              </a:ext>
            </a:extLst>
          </p:cNvPr>
          <p:cNvSpPr txBox="1"/>
          <p:nvPr/>
        </p:nvSpPr>
        <p:spPr>
          <a:xfrm>
            <a:off x="303667" y="657291"/>
            <a:ext cx="1021882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The objective of this project was to analyse coffee shop transaction data to identify customer behaviour patterns, sales trends, operational insights, and key business metrics that support data-driven decision-making.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345FB-D7A2-2658-B4C0-C7A4A6AB2FC6}"/>
              </a:ext>
            </a:extLst>
          </p:cNvPr>
          <p:cNvSpPr txBox="1"/>
          <p:nvPr/>
        </p:nvSpPr>
        <p:spPr>
          <a:xfrm>
            <a:off x="303667" y="1672954"/>
            <a:ext cx="503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  <a:latin typeface="+mj-lt"/>
              </a:rPr>
              <a:t>Key goals of the project:</a:t>
            </a:r>
            <a:endParaRPr lang="en-IN" sz="24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635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FEE27-A154-ED8B-0D59-C9C0F4874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341E0-691A-CB6B-AD58-571014AC1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471" y="-284694"/>
            <a:ext cx="6714668" cy="1015663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chemeClr val="tx2"/>
                </a:solidFill>
              </a:rPr>
              <a:t>Data Cleaning &amp; Transformation</a:t>
            </a:r>
            <a:endParaRPr lang="en-IN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3D26D5-D79A-9ECC-D355-067BF6468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12471" y="2028876"/>
            <a:ext cx="3932237" cy="3811588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• Missing value assessment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Duplicate detection and removal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Date format standardization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Text formatting cleanup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Feature engineering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Dataset merging and transformation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5B43A6-4CD1-1BC8-5F03-2EB6310AE9FD}"/>
              </a:ext>
            </a:extLst>
          </p:cNvPr>
          <p:cNvSpPr txBox="1"/>
          <p:nvPr/>
        </p:nvSpPr>
        <p:spPr>
          <a:xfrm>
            <a:off x="212471" y="685170"/>
            <a:ext cx="10218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Raw coffee shop transaction datasets were cleaned and transformed to improve data quality, consistency, and analysis readiness.</a:t>
            </a:r>
            <a:endParaRPr lang="en-IN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F44E19-57E2-72D3-0400-13B1FA982824}"/>
              </a:ext>
            </a:extLst>
          </p:cNvPr>
          <p:cNvSpPr txBox="1"/>
          <p:nvPr/>
        </p:nvSpPr>
        <p:spPr>
          <a:xfrm>
            <a:off x="212471" y="1567211"/>
            <a:ext cx="503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  <a:latin typeface="+mj-lt"/>
              </a:rPr>
              <a:t>Data preprocessing tasks performed:</a:t>
            </a:r>
            <a:endParaRPr lang="en-IN" sz="2400" b="1" dirty="0">
              <a:solidFill>
                <a:schemeClr val="tx2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12FD8E-6141-4DC0-1B26-CE426D4AA7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28876"/>
            <a:ext cx="4335292" cy="430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805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E579-9C2A-8F79-5DB4-E0BC5DF37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430C-C0E2-DD19-CF22-4834CBCAE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411" y="-266038"/>
            <a:ext cx="6714668" cy="1015663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tx2"/>
                </a:solidFill>
              </a:rPr>
              <a:t>Exploratory Data Analysis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FB7B0-347B-4B8B-5E14-E6FCFE8A2F3C}"/>
              </a:ext>
            </a:extLst>
          </p:cNvPr>
          <p:cNvSpPr txBox="1"/>
          <p:nvPr/>
        </p:nvSpPr>
        <p:spPr>
          <a:xfrm>
            <a:off x="283411" y="690085"/>
            <a:ext cx="10218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Exploratory Data Analysis (EDA) was performed to identify patterns, trends, customer behaviour, and relationships within the coffee shop transaction data.</a:t>
            </a:r>
            <a:endParaRPr lang="en-IN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07E3A27-7BDB-F9CF-B2CA-C468FB629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11" y="1411345"/>
            <a:ext cx="3058811" cy="20176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D10EF4-E8E7-F8CB-C3BC-5A458F5507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4676" y="1411344"/>
            <a:ext cx="3281798" cy="20176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1026C76-A914-F685-2889-E81A90AB98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928" y="1411344"/>
            <a:ext cx="2997372" cy="224802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162D654-E122-EB32-85F6-02E20F78BAB4}"/>
              </a:ext>
            </a:extLst>
          </p:cNvPr>
          <p:cNvSpPr txBox="1"/>
          <p:nvPr/>
        </p:nvSpPr>
        <p:spPr>
          <a:xfrm>
            <a:off x="381727" y="3442375"/>
            <a:ext cx="2668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22FB0F3-162C-1E8B-E321-EE0A656A7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3411" y="3917414"/>
            <a:ext cx="6105111" cy="2444666"/>
          </a:xfrm>
        </p:spPr>
        <p:txBody>
          <a:bodyPr>
            <a:normAutofit/>
          </a:bodyPr>
          <a:lstStyle/>
          <a:p>
            <a:pPr algn="just"/>
            <a:r>
              <a:rPr lang="en-GB" dirty="0"/>
              <a:t>• Certain coffee products generated significantly higher revenue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Transaction activity peaked during specific hours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Revenue distribution varied across customer segments</a:t>
            </a:r>
          </a:p>
          <a:p>
            <a:pPr algn="just"/>
            <a:endParaRPr lang="en-GB" dirty="0"/>
          </a:p>
          <a:p>
            <a:pPr algn="just"/>
            <a:r>
              <a:rPr lang="en-GB" dirty="0"/>
              <a:t>• Customer payment preferences showed noticeable trends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7213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D993-2E6A-531E-CD3C-957748125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62FBC-6C69-23BA-8F99-191E4C775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21" y="-312205"/>
            <a:ext cx="6714668" cy="1015663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tx2"/>
                </a:solidFill>
              </a:rPr>
              <a:t>SQL Business Analysis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A1BAA6-DD04-5D93-C7D5-C6B4558DE375}"/>
              </a:ext>
            </a:extLst>
          </p:cNvPr>
          <p:cNvSpPr txBox="1"/>
          <p:nvPr/>
        </p:nvSpPr>
        <p:spPr>
          <a:xfrm>
            <a:off x="536321" y="703458"/>
            <a:ext cx="10218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SQL queries were used to extract business insights related to revenue trends, product performance, customer behaviour, and transaction activity.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F1E7AC-C164-39A2-FFFD-85D4A931DEA9}"/>
              </a:ext>
            </a:extLst>
          </p:cNvPr>
          <p:cNvSpPr txBox="1"/>
          <p:nvPr/>
        </p:nvSpPr>
        <p:spPr>
          <a:xfrm>
            <a:off x="536321" y="1617385"/>
            <a:ext cx="2668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1DB8CDA-355C-1EC8-A472-B5D92003AF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6321" y="2373948"/>
            <a:ext cx="6105111" cy="2444666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sz="1800" dirty="0"/>
              <a:t>• Certain coffee products contributed significantly to total revenue</a:t>
            </a:r>
          </a:p>
          <a:p>
            <a:pPr algn="just"/>
            <a:endParaRPr lang="en-GB" sz="1800" dirty="0"/>
          </a:p>
          <a:p>
            <a:pPr algn="just"/>
            <a:r>
              <a:rPr lang="en-GB" sz="1800" dirty="0"/>
              <a:t>• Specific hours generated higher transaction activity</a:t>
            </a:r>
          </a:p>
          <a:p>
            <a:pPr algn="just"/>
            <a:endParaRPr lang="en-GB" sz="1800" dirty="0"/>
          </a:p>
          <a:p>
            <a:pPr algn="just"/>
            <a:r>
              <a:rPr lang="en-GB" sz="1800" dirty="0"/>
              <a:t>• Payment method analysis revealed customer preferences</a:t>
            </a:r>
          </a:p>
          <a:p>
            <a:pPr algn="just"/>
            <a:endParaRPr lang="en-GB" sz="1800" dirty="0"/>
          </a:p>
          <a:p>
            <a:pPr algn="just"/>
            <a:r>
              <a:rPr lang="en-GB" sz="1800" dirty="0"/>
              <a:t>• Revenue patterns varied across products and transaction periods</a:t>
            </a: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5641B5-0BF6-CC38-A32A-F614A5FF58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989" y="5090708"/>
            <a:ext cx="3822646" cy="1598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22E49B-4B61-FCCD-C8A5-79F95E77DB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0989" y="1719005"/>
            <a:ext cx="3822646" cy="3256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2880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E53D9-31D3-1B6A-898F-08ED71CC7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802D-62D8-BAA5-C51D-24A5C3DF8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320" y="-312205"/>
            <a:ext cx="8226679" cy="1015663"/>
          </a:xfrm>
        </p:spPr>
        <p:txBody>
          <a:bodyPr>
            <a:normAutofit fontScale="90000"/>
          </a:bodyPr>
          <a:lstStyle/>
          <a:p>
            <a:r>
              <a:rPr lang="en-IN" sz="4400" b="1" dirty="0">
                <a:solidFill>
                  <a:schemeClr val="tx2"/>
                </a:solidFill>
              </a:rPr>
              <a:t>KPI Dashboard &amp; Interactive Analytics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058A56-1DB6-9D5A-2A78-4AE384CAF24F}"/>
              </a:ext>
            </a:extLst>
          </p:cNvPr>
          <p:cNvSpPr txBox="1"/>
          <p:nvPr/>
        </p:nvSpPr>
        <p:spPr>
          <a:xfrm>
            <a:off x="536321" y="703458"/>
            <a:ext cx="10218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An interactive Power BI dashboard was developed to monitor key business metrics, </a:t>
            </a:r>
            <a:r>
              <a:rPr lang="en-GB" sz="2000" dirty="0" err="1"/>
              <a:t>analyze</a:t>
            </a:r>
            <a:r>
              <a:rPr lang="en-GB" sz="2000" dirty="0"/>
              <a:t> customer behaviour, and explore sales performance dynamically.</a:t>
            </a:r>
            <a:endParaRPr lang="en-IN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7E60CF-33DA-9342-5F1E-DD0F685655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320" y="1411344"/>
            <a:ext cx="11119359" cy="5027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35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B2E50-0DEC-682F-44D2-79EAAEAA0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65599-72BB-086A-9ECF-C8252AB20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71" y="-277526"/>
            <a:ext cx="10537314" cy="1015663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tx2"/>
                </a:solidFill>
              </a:rPr>
              <a:t>Customer Segmentation &amp; Deep-Dive Analysis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9DBD83-E8EA-D133-DAEA-79125A960DA5}"/>
              </a:ext>
            </a:extLst>
          </p:cNvPr>
          <p:cNvSpPr txBox="1"/>
          <p:nvPr/>
        </p:nvSpPr>
        <p:spPr>
          <a:xfrm>
            <a:off x="326771" y="738137"/>
            <a:ext cx="102188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A customer segmentation analysis was performed to categorize transactions into High Value, Medium Value, and Low Value customer groups based on transaction amount.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059958-BEAE-A4E1-CF97-EA42EFD71BA6}"/>
              </a:ext>
            </a:extLst>
          </p:cNvPr>
          <p:cNvSpPr txBox="1"/>
          <p:nvPr/>
        </p:nvSpPr>
        <p:spPr>
          <a:xfrm>
            <a:off x="326771" y="1880927"/>
            <a:ext cx="2668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j-lt"/>
              </a:rPr>
              <a:t>Key Insights: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0A8B0DD-4052-9677-2B07-CF5E1C8C7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771" y="2504514"/>
            <a:ext cx="7064629" cy="2444666"/>
          </a:xfrm>
        </p:spPr>
        <p:txBody>
          <a:bodyPr>
            <a:normAutofit/>
          </a:bodyPr>
          <a:lstStyle/>
          <a:p>
            <a:pPr algn="just"/>
            <a:r>
              <a:rPr lang="en-GB" sz="1800" dirty="0"/>
              <a:t>• High-value customers contributed significantly to revenue</a:t>
            </a:r>
          </a:p>
          <a:p>
            <a:pPr algn="just"/>
            <a:endParaRPr lang="en-GB" sz="1800" dirty="0"/>
          </a:p>
          <a:p>
            <a:pPr algn="just"/>
            <a:r>
              <a:rPr lang="en-GB" sz="1800" dirty="0"/>
              <a:t>• Medium-value customers represented consistent purchasing behaviour</a:t>
            </a:r>
          </a:p>
          <a:p>
            <a:pPr algn="just"/>
            <a:endParaRPr lang="en-GB" sz="1800" dirty="0"/>
          </a:p>
          <a:p>
            <a:pPr algn="just"/>
            <a:r>
              <a:rPr lang="en-GB" sz="1800" dirty="0"/>
              <a:t>• Low-value customers showed smaller transaction amounts</a:t>
            </a:r>
            <a:endParaRPr lang="en-IN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DA375D-0540-50D6-B2B1-6A3C7AEC04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93115" y="5014178"/>
            <a:ext cx="3619215" cy="15988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5C78CA-F310-4165-C30B-718D3E8FB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91400" y="2142664"/>
            <a:ext cx="4324350" cy="254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508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F65D2-B5F4-D8C1-9C0A-F81CCEEAF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44F1-1DCE-55E1-CF06-73F7613AB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771" y="-277526"/>
            <a:ext cx="10537314" cy="1015663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chemeClr val="tx2"/>
                </a:solidFill>
              </a:rPr>
              <a:t>Hypothesis Testing &amp; Statistical Validation</a:t>
            </a:r>
            <a:endParaRPr lang="en-IN" sz="4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A96C50-7EF3-A24E-5251-4562EB818740}"/>
              </a:ext>
            </a:extLst>
          </p:cNvPr>
          <p:cNvSpPr txBox="1"/>
          <p:nvPr/>
        </p:nvSpPr>
        <p:spPr>
          <a:xfrm>
            <a:off x="326771" y="738137"/>
            <a:ext cx="9438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GB" sz="2000" dirty="0"/>
              <a:t>A customer segmentation analysis was performed to categorize transactions into High Value, Medium Value, and Low Value customer groups based on transaction amount.</a:t>
            </a:r>
            <a:endParaRPr lang="en-IN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BA8943-B91E-BB2E-FA48-D83F1E773513}"/>
              </a:ext>
            </a:extLst>
          </p:cNvPr>
          <p:cNvSpPr txBox="1"/>
          <p:nvPr/>
        </p:nvSpPr>
        <p:spPr>
          <a:xfrm>
            <a:off x="326770" y="1563511"/>
            <a:ext cx="2987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j-lt"/>
              </a:rPr>
              <a:t>Business Hypothesis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7D78AFA-F3E8-CEE9-39BF-C9C9D779B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6772" y="2025176"/>
            <a:ext cx="9426828" cy="707886"/>
          </a:xfrm>
        </p:spPr>
        <p:txBody>
          <a:bodyPr>
            <a:normAutofit/>
          </a:bodyPr>
          <a:lstStyle/>
          <a:p>
            <a:pPr algn="just"/>
            <a:r>
              <a:rPr lang="en-GB" sz="1800" dirty="0"/>
              <a:t>High-value customer transactions are significantly different from low-value customer transactions.</a:t>
            </a:r>
            <a:endParaRPr lang="en-IN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62C1F53-3670-4761-C2D4-0AEC06534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6770" y="4855986"/>
            <a:ext cx="5007230" cy="16831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A2DF9B-6C6C-43A2-8F76-3C170D632EC3}"/>
              </a:ext>
            </a:extLst>
          </p:cNvPr>
          <p:cNvSpPr txBox="1"/>
          <p:nvPr/>
        </p:nvSpPr>
        <p:spPr>
          <a:xfrm>
            <a:off x="318706" y="2604329"/>
            <a:ext cx="354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j-lt"/>
              </a:rPr>
              <a:t>Statistical Method Used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4F1288A-6256-8485-8522-F2F9167C8E2C}"/>
              </a:ext>
            </a:extLst>
          </p:cNvPr>
          <p:cNvSpPr txBox="1">
            <a:spLocks/>
          </p:cNvSpPr>
          <p:nvPr/>
        </p:nvSpPr>
        <p:spPr>
          <a:xfrm>
            <a:off x="326771" y="3054402"/>
            <a:ext cx="9438925" cy="70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1800" dirty="0"/>
              <a:t>A T-test was performed using Python to compare transaction amounts between customer segments.</a:t>
            </a:r>
            <a:endParaRPr lang="en-IN" sz="1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F0421C-C366-B75F-2039-457C32B64CEC}"/>
              </a:ext>
            </a:extLst>
          </p:cNvPr>
          <p:cNvSpPr txBox="1"/>
          <p:nvPr/>
        </p:nvSpPr>
        <p:spPr>
          <a:xfrm>
            <a:off x="314674" y="3660535"/>
            <a:ext cx="3540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2"/>
                </a:solidFill>
                <a:latin typeface="+mj-lt"/>
              </a:rPr>
              <a:t>Result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1C9339C-C617-D726-5B4F-672E9C610483}"/>
              </a:ext>
            </a:extLst>
          </p:cNvPr>
          <p:cNvSpPr txBox="1">
            <a:spLocks/>
          </p:cNvSpPr>
          <p:nvPr/>
        </p:nvSpPr>
        <p:spPr>
          <a:xfrm>
            <a:off x="314675" y="4122200"/>
            <a:ext cx="9438925" cy="7078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GB" sz="1800" dirty="0"/>
              <a:t>The analysis identified a statistically significant difference in spending behaviour between customer groups (p-value &lt; 0.05).</a:t>
            </a:r>
          </a:p>
        </p:txBody>
      </p:sp>
    </p:spTree>
    <p:extLst>
      <p:ext uri="{BB962C8B-B14F-4D97-AF65-F5344CB8AC3E}">
        <p14:creationId xmlns:p14="http://schemas.microsoft.com/office/powerpoint/2010/main" val="370597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EE26A-DCDE-0196-DBEF-BCDBF02FC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70109-7D98-93B8-F25C-84AD0AD70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165" y="-399812"/>
            <a:ext cx="10515600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tx2"/>
                </a:solidFill>
              </a:rPr>
              <a:t>Business Recommendations &amp; 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3C5DA-2A39-3504-703A-D6BA6FE3F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167" y="1128766"/>
            <a:ext cx="10299033" cy="306983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GB" sz="1800" dirty="0"/>
              <a:t>• Focus promotional efforts on top-performing coffee products</a:t>
            </a:r>
          </a:p>
          <a:p>
            <a:pPr marL="0" indent="0" algn="just">
              <a:buNone/>
            </a:pPr>
            <a:endParaRPr lang="en-GB" sz="1800" dirty="0"/>
          </a:p>
          <a:p>
            <a:pPr marL="0" indent="0" algn="just">
              <a:buNone/>
            </a:pPr>
            <a:r>
              <a:rPr lang="en-GB" sz="1800" dirty="0"/>
              <a:t>• Increase staffing during peak sales hours</a:t>
            </a:r>
          </a:p>
          <a:p>
            <a:pPr marL="0" indent="0" algn="just">
              <a:buNone/>
            </a:pPr>
            <a:endParaRPr lang="en-GB" sz="1800" dirty="0"/>
          </a:p>
          <a:p>
            <a:pPr marL="0" indent="0" algn="just">
              <a:buNone/>
            </a:pPr>
            <a:r>
              <a:rPr lang="en-GB" sz="1800" dirty="0"/>
              <a:t>• Develop loyalty strategies for high-value customers</a:t>
            </a:r>
          </a:p>
          <a:p>
            <a:pPr marL="0" indent="0" algn="just">
              <a:buNone/>
            </a:pPr>
            <a:endParaRPr lang="en-GB" sz="1800" dirty="0"/>
          </a:p>
          <a:p>
            <a:pPr marL="0" indent="0" algn="just">
              <a:buNone/>
            </a:pPr>
            <a:r>
              <a:rPr lang="en-GB" sz="1800" dirty="0"/>
              <a:t>• Use dashboard monitoring for ongoing business tracking</a:t>
            </a:r>
          </a:p>
          <a:p>
            <a:pPr marL="0" indent="0" algn="just">
              <a:buNone/>
            </a:pPr>
            <a:endParaRPr lang="en-GB" sz="1800" dirty="0"/>
          </a:p>
          <a:p>
            <a:pPr marL="0" indent="0" algn="just">
              <a:buNone/>
            </a:pPr>
            <a:r>
              <a:rPr lang="en-GB" sz="1800" dirty="0"/>
              <a:t>• </a:t>
            </a:r>
            <a:r>
              <a:rPr lang="en-GB" sz="1800" dirty="0" err="1"/>
              <a:t>Analyze</a:t>
            </a:r>
            <a:r>
              <a:rPr lang="en-GB" sz="1800" dirty="0"/>
              <a:t> customer spending trends regularly for decision-making</a:t>
            </a:r>
            <a:endParaRPr lang="en-IN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B7BE9F-C4AC-B2EA-47BD-CDF155E03429}"/>
              </a:ext>
            </a:extLst>
          </p:cNvPr>
          <p:cNvSpPr txBox="1"/>
          <p:nvPr/>
        </p:nvSpPr>
        <p:spPr>
          <a:xfrm>
            <a:off x="445165" y="690967"/>
            <a:ext cx="503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  <a:latin typeface="+mj-lt"/>
              </a:rPr>
              <a:t>Business Recommendations</a:t>
            </a:r>
            <a:endParaRPr lang="en-IN" sz="24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3A53B-5C29-64A1-B7A9-FB57F560988D}"/>
              </a:ext>
            </a:extLst>
          </p:cNvPr>
          <p:cNvSpPr txBox="1"/>
          <p:nvPr/>
        </p:nvSpPr>
        <p:spPr>
          <a:xfrm>
            <a:off x="445166" y="4660262"/>
            <a:ext cx="503722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solidFill>
                  <a:schemeClr val="tx2"/>
                </a:solidFill>
                <a:latin typeface="+mj-lt"/>
              </a:rPr>
              <a:t>Conclusion</a:t>
            </a:r>
            <a:endParaRPr lang="en-IN" sz="2400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4DFD730-5731-C68A-4940-698295972A6D}"/>
              </a:ext>
            </a:extLst>
          </p:cNvPr>
          <p:cNvSpPr txBox="1">
            <a:spLocks/>
          </p:cNvSpPr>
          <p:nvPr/>
        </p:nvSpPr>
        <p:spPr>
          <a:xfrm>
            <a:off x="445166" y="5155562"/>
            <a:ext cx="9426828" cy="70788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1800" dirty="0"/>
              <a:t>The project successfully transformed raw coffee shop transaction data into actionable business insights through data cleaning, exploratory analysis, SQL querying, KPI dashboarding, customer segmentation, and statistical validation.</a:t>
            </a:r>
            <a:endParaRPr lang="en-IN" sz="1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D423F0-1FE3-A0AA-D5DB-FBB85E55AC34}"/>
              </a:ext>
            </a:extLst>
          </p:cNvPr>
          <p:cNvSpPr txBox="1"/>
          <p:nvPr/>
        </p:nvSpPr>
        <p:spPr>
          <a:xfrm>
            <a:off x="4057650" y="6273225"/>
            <a:ext cx="4076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b="1" dirty="0">
                <a:solidFill>
                  <a:schemeClr val="tx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603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589</Words>
  <Application>Microsoft Office PowerPoint</Application>
  <PresentationFormat>Widescreen</PresentationFormat>
  <Paragraphs>99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Coffee Shop Sales Analytics &amp; Business Intelligence</vt:lpstr>
      <vt:lpstr>Business Objective</vt:lpstr>
      <vt:lpstr>Dataset Overview</vt:lpstr>
      <vt:lpstr>Data Cleaning &amp; Transformation</vt:lpstr>
      <vt:lpstr>Exploratory Data Analysis</vt:lpstr>
      <vt:lpstr>SQL Business Analysis</vt:lpstr>
      <vt:lpstr>KPI Dashboard &amp; Interactive Analytics</vt:lpstr>
      <vt:lpstr>Customer Segmentation &amp; Deep-Dive Analysis</vt:lpstr>
      <vt:lpstr>Hypothesis Testing &amp; Statistical Validation</vt:lpstr>
      <vt:lpstr>Business Recommendations &amp;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Dinesh Lucky</dc:creator>
  <cp:lastModifiedBy>Dinesh Lucky</cp:lastModifiedBy>
  <cp:revision>2</cp:revision>
  <dcterms:created xsi:type="dcterms:W3CDTF">2026-05-14T06:10:18Z</dcterms:created>
  <dcterms:modified xsi:type="dcterms:W3CDTF">2026-05-14T09:03:29Z</dcterms:modified>
</cp:coreProperties>
</file>